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  <p:defaultTextStyle>
    <a:defPPr>
      <a:defRPr lang="en-GB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/>
  <p:slideViewPr>
    <p:cSldViewPr>
      <p:cViewPr/>
      <p:guideLst/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clrMap bg1="lt1" tx1="dk1" bg2="lt2" tx2="dk2" accent1="accent1" accent2="accent2" accent3="accent3" accent4="accent4" accent5="accent5" accent6="accent6" hlink="hlink" folHlink="folHlink"/>
  <p:txStyles>
    <p:titleStyle>
      <a:lvl1pPr>
        <a:defRPr lang="en-GB" sz="4400" b="1">
          <a:solidFill>
            <a:srgbClr val="F8FAFC"/>
          </a:solidFill>
        </a:defRPr>
      </a:lvl1pPr>
    </p:titleStyle>
    <p:bodyStyle>
      <a:lvl1pPr marL="457200" indent="-228600">
        <a:buChar char="•"/>
        <a:defRPr lang="en-GB" sz="2200">
          <a:solidFill>
            <a:srgbClr val="CBD5E1"/>
          </a:solidFill>
        </a:defRPr>
      </a:lvl1pPr>
      <a:lvl2pPr marL="914400" indent="-228600">
        <a:buChar char="•"/>
        <a:defRPr lang="en-GB" sz="2000">
          <a:solidFill>
            <a:srgbClr val="CBD5E1"/>
          </a:solidFill>
        </a:defRPr>
      </a:lvl2pPr>
    </p:bodyStyle>
    <p:otherStyle>
      <a:lvl1pPr>
        <a:defRPr lang="en-GB" sz="1600">
          <a:solidFill>
            <a:srgbClr val="94A3B8"/>
          </a:solidFill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900000"/>
            <a:ext cx="10728960" cy="14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5400" b="1">
                <a:solidFill>
                  <a:srgbClr val="F8FAFC"/>
                </a:solidFill>
              </a:rPr>
              <a:t>Microsoft Copilot vs GPT‑5.1</a:t>
            </a:r>
            <a:endParaRPr lang="en-GB"/>
          </a:p>
        </p:txBody>
      </p:sp>
      <p:sp>
        <p:nvSpPr>
          <p:cNvPr id="3" name="Subtitle"/>
          <p:cNvSpPr txBox="1"/>
          <p:nvPr/>
        </p:nvSpPr>
        <p:spPr>
          <a:xfrm>
            <a:off x="731520" y="2450000"/>
            <a:ext cx="1072896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2200">
                <a:solidFill>
                  <a:srgbClr val="94A3B8"/>
                </a:solidFill>
              </a:rPr>
              <a:t>Security • Governance • Effectiveness • Fit for Care Workflows</a:t>
            </a:r>
            <a:endParaRPr lang="en-GB"/>
          </a:p>
        </p:txBody>
      </p:sp>
      <p:sp>
        <p:nvSpPr>
          <p:cNvPr id="4" name="Badge"/>
          <p:cNvSpPr txBox="1"/>
          <p:nvPr/>
        </p:nvSpPr>
        <p:spPr>
          <a:xfrm>
            <a:off x="731520" y="3300000"/>
            <a:ext cx="1072896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1800">
                <a:solidFill>
                  <a:srgbClr val="94A3B8"/>
                </a:solidFill>
              </a:rPr>
              <a:t>Security • Governance • Effectiveness • Fit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1 / 13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Executive Summary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Copilot is strong for internal productivity in Microsoft 365 with enterprise controls and identity baked in.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GPT‑5.1 via API is strong for product‑embedded assistants where you need predictable workflows, structured outputs, and guardrails you control.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The best choice depends on whether the assistant lives inside Microsoft 365 or inside your website.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2 / 13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What Each Option Is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Microsoft 365 Copilot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AI assistant embedded in Microsoft 365 apps (Word, Outlook, Teams, etc.)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Uses your tenant identity/permissions and Microsoft 365 governance stack</a:t>
            </a:r>
            <a:endParaRPr lang="en-GB"/>
          </a:p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GPT‑5.1 via API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A model you call programmatically from your product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You own orchestration: prompts, tools, retrieval, policies, logging, and UI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3 / 13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Data Flow (High Level)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Copilot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User prompt + Microsoft 365 context (documents, emails, meetings) → Copilot response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Access is governed by tenant permissions (who can see what in M365)</a:t>
            </a:r>
            <a:endParaRPr lang="en-GB"/>
          </a:p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GPT‑5.1 via API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User prompt + our app context (DB, uploads, workflows) → model response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Access is governed by our application permission model and data pipeline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4 / 13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Security &amp; Privacy Controls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Copilot (Pros)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Inherits Microsoft 365 security model (identity, conditional access, DLP, eDiscovery, retention)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Admin‑managed controls (tenant policies, auditing)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Copilot (Limitations for a website assistant)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Not designed as a general, product‑embedded assistant for your own app UI and data flows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Customization is constrained to Microsoft’s orchestration model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GPT‑5.1 via API (Pros)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Enforce strict app‑level controls: RBAC, scoped retrieval, redaction, retention rules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Build “privacy by design” into exactly what you send (and don’t send) to the model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GPT‑5.1 via API (Responsibilities)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You implement: permission gates, data minimization, logging/audit trails, key management, incident response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5 / 13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Governance &amp; Auditability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Copilot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Strong tenant‑level governance for M365 content and user activity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Great when the system of record is already Microsoft 365</a:t>
            </a:r>
            <a:endParaRPr lang="en-GB"/>
          </a:p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GPT‑5.1 via API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Best when you need request/response logs, evaluation harnesses, and reproducible runs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Enables structured outputs + deterministic validation (schemas, rules, policy checks)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6 / 13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Effectiveness for Care Compliance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What “effective” means here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High signal‑to‑noise (less hallucination risk)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Domain‑rule alignment (EMAR rules, templates, shift bars, time‑critical constraints)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Consistent formatting and explainability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Copilot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Optimized for drafting, summarizing, and searching in M365 context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Less optimized for enforcing app‑specific business rules end‑to‑end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GPT‑5.1 via API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Optimized for product workflows: tool calls, structured outputs, validation loops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Pair with deterministic checks in code before saving/exporting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7 / 13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Customization &amp; Integration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Copilot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Fast adoption where staff already live in Teams/Outlook/Word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Customization depends on Copilot product + tenant capabilities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GPT‑5.1 via API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Full control over retrieval sources (your DB, uploads, approved docs)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Tooling (EMAR parser, rota optimizer, admin‑only endpoints)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Output contracts (schemas, required fields, severity ratings)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Safety layers (PII filtering, content policies, blocked actions)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8 / 13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Risk Profile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Copilot risks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Scope mismatch (M365 productivity vs app workflows)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Limited ability to enforce precise domain rules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Vendor/product changes you can’t control may affect behavior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GPT‑5.1 via API risks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Data leakage if you send the wrong context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Misconfiguration (overly broad retrieval, weak auth)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Hallucinations if you don’t constrain outputs and validate</a:t>
            </a:r>
            <a:endParaRPr lang="en-GB"/>
          </a:p>
          <a:p>
            <a:pPr lvl="0" marL="457200" indent="-228600">
              <a:buChar char="•"/>
            </a:pPr>
            <a:r>
              <a:rPr lang="en-GB" sz="1800" b="1">
                <a:solidFill>
                  <a:srgbClr val="E2E8F0"/>
                </a:solidFill>
              </a:rPr>
              <a:t>Mitigations for GPT‑5.1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Strict RAG scoping (only retrieve what the user is allowed to see)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Structured output validation + deterministic rules</a:t>
            </a:r>
            <a:endParaRPr lang="en-GB"/>
          </a:p>
          <a:p>
            <a:pPr lvl="1" marL="914400" indent="-228600">
              <a:buChar char="•"/>
            </a:pPr>
            <a:r>
              <a:rPr lang="en-GB" sz="1600">
                <a:solidFill>
                  <a:srgbClr val="CBD5E1"/>
                </a:solidFill>
              </a:rPr>
              <a:t>Comprehensive audit logging and red‑teaming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9 / 13</a:t>
            </a: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Cost, Scale &amp; Ops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Copilot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Often simpler procurement for Microsoft‑first orgs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Best ROI when workflows are already M365‑native</a:t>
            </a:r>
            <a:endParaRPr lang="en-GB"/>
          </a:p>
          <a:p>
            <a:pPr lvl="0" marL="457200" indent="-228600">
              <a:buChar char="•"/>
            </a:pPr>
            <a:r>
              <a:rPr lang="en-GB" sz="2000" b="1">
                <a:solidFill>
                  <a:srgbClr val="E2E8F0"/>
                </a:solidFill>
              </a:rPr>
              <a:t>GPT‑5.1 via API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Cost scales with usage/context size; tune via caching, summarization, policy‑driven context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More engineering effort, but higher long‑term differentiation and control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10 / 13</a:t>
            </a:r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Recommendation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Use Microsoft 365 Copilot for internal office productivity (emails, docs, Teams summaries).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Use GPT‑5.1 via API for the website assistant where you need predictable workflows, strict RBAC, deterministic validation, and full auditability.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“Both” is often best: Copilot for M365, GPT for product.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11 / 13</a:t>
            </a:r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Next Steps (Proof, Not Opinions)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Define success metrics: accuracy, latency, refusal detection rates, policy violations, reviewer time saved.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Build a red‑team checklist: PII leakage, privilege escalation, prompt injection, unsafe advice.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Run a pilot: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Copilot for internal docs/workflows</a:t>
            </a:r>
            <a:endParaRPr lang="en-GB"/>
          </a:p>
          <a:p>
            <a:pPr lvl="1" marL="9144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GPT‑5.1 for embedded EMAR + rota optimization with guardrails</a:t>
            </a:r>
            <a:endParaRPr lang="en-GB"/>
          </a:p>
          <a:p>
            <a:pPr lvl="0" marL="457200" indent="-228600">
              <a:buChar char="•"/>
            </a:pPr>
            <a:r>
              <a:rPr lang="en-GB" sz="2000">
                <a:solidFill>
                  <a:srgbClr val="CBD5E1"/>
                </a:solidFill>
              </a:rPr>
              <a:t>Review results and pick the operating model.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12 / 13</a:t>
            </a:r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731520" y="4572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r>
              <a:rPr lang="en-GB" sz="4200" b="1">
                <a:solidFill>
                  <a:srgbClr val="F8FAFC"/>
                </a:solidFill>
              </a:rPr>
              <a:t>Appendix: One‑Page Comparison</a:t>
            </a:r>
            <a:endParaRPr lang="en-GB"/>
          </a:p>
        </p:txBody>
      </p:sp>
      <p:sp>
        <p:nvSpPr>
          <p:cNvPr id="3" name="Body"/>
          <p:cNvSpPr txBox="1"/>
          <p:nvPr/>
        </p:nvSpPr>
        <p:spPr>
          <a:xfrm>
            <a:off x="731520" y="1554480"/>
            <a:ext cx="10728960" cy="4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Best fit — Copilot: M365 productivity; GPT‑5.1: product workflows in your app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Data context — Copilot: Microsoft Graph/tenant content; GPT‑5.1: your DB/uploads/curated docs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Permissioning — Copilot: inherits M365; GPT‑5.1: you implement RBAC + scoping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Governance — Copilot: strong tenant governance; GPT‑5.1: strong app‑level governance if built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Customization — Copilot: constrained; GPT‑5.1: full control (tools, prompts, schemas)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Auditability — Copilot: M365 auditing; GPT‑5.1: full request/response + eval harness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Risk — Copilot: scope mismatch for app workflows; GPT‑5.1: misconfig if guardrails missing</a:t>
            </a:r>
            <a:endParaRPr lang="en-GB"/>
          </a:p>
          <a:p>
            <a:pPr lvl="0" marL="457200" indent="-228600">
              <a:buChar char="•"/>
            </a:pPr>
            <a:r>
              <a:rPr lang="en-GB" sz="1800">
                <a:solidFill>
                  <a:srgbClr val="CBD5E1"/>
                </a:solidFill>
              </a:rPr>
              <a:t>Engineering effort — Copilot: lower; GPT‑5.1: higher (but more controllable)</a:t>
            </a:r>
            <a:endParaRPr lang="en-GB"/>
          </a:p>
        </p:txBody>
      </p:sp>
      <p:sp>
        <p:nvSpPr>
          <p:cNvPr id="90" name="Footer Left"/>
          <p:cNvSpPr txBox="1"/>
          <p:nvPr/>
        </p:nvSpPr>
        <p:spPr>
          <a:xfrm>
            <a:off x="731520" y="6480000"/>
            <a:ext cx="6437376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GB" sz="1200">
                <a:solidFill>
                  <a:srgbClr val="64748B"/>
                </a:solidFill>
              </a:rPr>
              <a:t>CareAssurance</a:t>
            </a:r>
            <a:endParaRPr lang="en-GB"/>
          </a:p>
        </p:txBody>
      </p:sp>
      <p:sp>
        <p:nvSpPr>
          <p:cNvPr id="91" name="Footer Right"/>
          <p:cNvSpPr txBox="1"/>
          <p:nvPr/>
        </p:nvSpPr>
        <p:spPr>
          <a:xfrm>
            <a:off x="7168896" y="6480000"/>
            <a:ext cx="4291584" cy="2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GB" sz="1200">
                <a:solidFill>
                  <a:srgbClr val="64748B"/>
                </a:solidFill>
              </a:rPr>
              <a:t>13 / 13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Assurance Theme">
  <a:themeElements>
    <a:clrScheme name="CareAssurance">
      <a:dk1>
        <a:srgbClr val="0B1220"/>
      </a:dk1>
      <a:lt1>
        <a:srgbClr val="F8FAFC"/>
      </a:lt1>
      <a:dk2>
        <a:srgbClr val="0F172A"/>
      </a:dk2>
      <a:lt2>
        <a:srgbClr val="E2E8F0"/>
      </a:lt2>
      <a:accent1>
        <a:srgbClr val="2563EB"/>
      </a:accent1>
      <a:accent2>
        <a:srgbClr val="14B8A6"/>
      </a:accent2>
      <a:accent3>
        <a:srgbClr val="22C55E"/>
      </a:accent3>
      <a:accent4>
        <a:srgbClr val="F59E0B"/>
      </a:accent4>
      <a:accent5>
        <a:srgbClr val="E11D48"/>
      </a:accent5>
      <a:accent6>
        <a:srgbClr val="8B5CF6"/>
      </a:accent6>
      <a:hlink>
        <a:srgbClr val="60A5FA"/>
      </a:hlink>
      <a:folHlink>
        <a:srgbClr val="A78BFA"/>
      </a:folHlink>
    </a:clrScheme>
    <a:fontScheme name="CareAssuran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areAssurance">
      <a:fillStyleLst>
        <a:solidFill>
          <a:schemeClr val="phClr"/>
        </a:solidFill>
        <a:gradFill rotWithShape="1">
          <a:gsLst>
            <a:gs pos="0">
              <a:schemeClr val="accent1"/>
            </a:gs>
            <a:gs pos="100000">
              <a:schemeClr val="accent2"/>
            </a:gs>
          </a:gsLst>
          <a:lin ang="16200000" scaled="1"/>
        </a:gradFill>
        <a:gradFill rotWithShape="1">
          <a:gsLst>
            <a:gs pos="0">
              <a:schemeClr val="accent2"/>
            </a:gs>
            <a:gs pos="100000">
              <a:schemeClr val="accent1"/>
            </a:gs>
          </a:gsLst>
          <a:lin ang="5400000" scaled="1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dk1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CareAssurance</Application>
  <PresentationFormat>Widescreen</PresentationFormat>
  <Slides>13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 vs GPT-5.1</dc:title>
  <dc:creator>CareAssurance</dc:creator>
  <cp:lastModifiedBy>CareAssurance</cp:lastModifiedBy>
  <dcterms:created xsi:type="dcterms:W3CDTF">2026-01-10T20:56:18Z</dcterms:created>
  <dcterms:modified xsi:type="dcterms:W3CDTF">2026-01-10T20:56:18Z</dcterms:modified>
</cp:coreProperties>
</file>